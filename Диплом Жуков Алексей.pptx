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C2458508-05A1-21E7-7CDB-93ACF1F5D20C}">
  <a:tblStyle styleId="{C2458508-05A1-21E7-7CDB-93ACF1F5D20C}" styleName="Medium Style 2 - Accent 1">
    <a:wholeTbl>
      <a:tcTxStyle>
        <a:fontRef idx="minor"/>
        <a:schemeClr val="dk1"/>
      </a:tcTxStyle>
      <a:tcStyle>
        <a:tcBdr>
          <a:left>
            <a:ln w="12700">
              <a:solidFill>
                <a:schemeClr val="lt1"/>
              </a:solidFill>
              <a:prstDash val="dashDot"/>
            </a:ln>
          </a:left>
          <a:right>
            <a:ln w="12700">
              <a:solidFill>
                <a:schemeClr val="lt1"/>
              </a:solidFill>
              <a:prstDash val="dashDot"/>
            </a:ln>
          </a:right>
          <a:top>
            <a:ln w="12700">
              <a:solidFill>
                <a:schemeClr val="lt1"/>
              </a:solidFill>
              <a:prstDash val="dashDot"/>
            </a:ln>
          </a:top>
          <a:bottom>
            <a:ln w="12700">
              <a:solidFill>
                <a:schemeClr val="lt1"/>
              </a:solidFill>
              <a:prstDash val="dashDot"/>
            </a:ln>
          </a:bottom>
          <a:insideH>
            <a:ln w="12700">
              <a:solidFill>
                <a:schemeClr val="lt1"/>
              </a:solidFill>
              <a:prstDash val="dashDot"/>
            </a:ln>
          </a:insideH>
          <a:insideV>
            <a:ln w="12700">
              <a:solidFill>
                <a:schemeClr val="lt1"/>
              </a:solidFill>
              <a:prstDash val="dashDot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/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/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/>
        <a:schemeClr val="lt1"/>
      </a:tcTxStyle>
      <a:tcStyle>
        <a:tcBdr>
          <a:top>
            <a:ln w="38100">
              <a:solidFill>
                <a:schemeClr val="lt1"/>
              </a:solidFill>
              <a:prstDash val="dashDot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/>
        <a:schemeClr val="lt1"/>
      </a:tcTxStyle>
      <a:tcStyle>
        <a:tcBdr>
          <a:bottom>
            <a:ln w="38100">
              <a:solidFill>
                <a:schemeClr val="lt1"/>
              </a:solidFill>
              <a:prstDash val="dashDot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9" d="100"/>
          <a:sy n="109" d="100"/>
        </p:scale>
        <p:origin x="636" y="108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6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l" defTabSz="68580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49"/>
        </a:spcBef>
        <a:buFont typeface="Liberation Sans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4"/>
        </a:spcBef>
        <a:buFont typeface="Liberation Sans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097280" y="2599266"/>
            <a:ext cx="10058400" cy="1725845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 algn="ctr">
              <a:defRPr/>
            </a:pPr>
            <a:r>
              <a:rPr lang="ru-RU" sz="4200">
                <a:solidFill>
                  <a:schemeClr val="tx1"/>
                </a:solidFill>
                <a:latin typeface="Times New Roman"/>
                <a:cs typeface="Times New Roman"/>
              </a:rPr>
              <a:t>Дипломный проект</a:t>
            </a:r>
            <a:br>
              <a:rPr lang="ru-RU" sz="420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ru-RU" sz="4200">
                <a:solidFill>
                  <a:schemeClr val="tx1"/>
                </a:solidFill>
                <a:latin typeface="Times New Roman"/>
                <a:cs typeface="Times New Roman"/>
              </a:rPr>
              <a:t>На тему: «Информационная</a:t>
            </a:r>
            <a:r>
              <a:rPr sz="42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4200">
                <a:solidFill>
                  <a:schemeClr val="tx1"/>
                </a:solidFill>
                <a:latin typeface="Times New Roman"/>
                <a:cs typeface="Times New Roman"/>
              </a:rPr>
              <a:t>система</a:t>
            </a:r>
            <a:r>
              <a:rPr sz="42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4200">
                <a:solidFill>
                  <a:schemeClr val="tx1"/>
                </a:solidFill>
                <a:latin typeface="Times New Roman"/>
                <a:cs typeface="Times New Roman"/>
              </a:rPr>
              <a:t>по управлению проектами</a:t>
            </a:r>
            <a:r>
              <a:rPr lang="ru-RU" sz="4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»</a:t>
            </a:r>
            <a:endParaRPr sz="4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8224199" y="4679271"/>
            <a:ext cx="2996213" cy="129265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 algn="l">
              <a:lnSpc>
                <a:spcPct val="150000"/>
              </a:lnSpc>
              <a:defRPr/>
            </a:pPr>
            <a:r>
              <a:rPr lang="ru-RU" sz="1400" b="0" i="0" u="none" strike="noStrike" cap="none" spc="-49">
                <a:solidFill>
                  <a:schemeClr val="tx1"/>
                </a:solidFill>
                <a:latin typeface="Times New Roman"/>
                <a:cs typeface="Times New Roman"/>
              </a:rPr>
              <a:t>Студент группы ИП1-22: </a:t>
            </a:r>
            <a:endParaRPr sz="1400" b="0" i="0" u="none" strike="noStrike" cap="none" spc="-49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0" i="0" u="none" strike="noStrike" cap="none" spc="-48">
                <a:solidFill>
                  <a:schemeClr val="tx1"/>
                </a:solidFill>
                <a:latin typeface="Times New Roman"/>
                <a:cs typeface="Times New Roman"/>
              </a:rPr>
              <a:t>Жуков Алексей Витальевич</a:t>
            </a:r>
            <a:br>
              <a:rPr lang="ru-RU" sz="1400" b="0" i="0" u="none" strike="noStrike" cap="none" spc="-49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ru-RU" sz="1400" b="0" i="0" u="none" strike="noStrike" cap="none" spc="-49">
                <a:solidFill>
                  <a:schemeClr val="tx1"/>
                </a:solidFill>
                <a:latin typeface="Times New Roman"/>
                <a:cs typeface="Times New Roman"/>
              </a:rPr>
              <a:t>Руководитель: </a:t>
            </a:r>
            <a:endParaRPr sz="1400" b="0" i="0" u="none" strike="noStrike" cap="none" spc="-49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99"/>
              </a:spcAft>
              <a:defRPr/>
            </a:pPr>
            <a:r>
              <a:rPr lang="ru-RU" sz="1400" b="0" i="0" u="none" strike="noStrike" cap="none" spc="-49">
                <a:solidFill>
                  <a:schemeClr val="tx1"/>
                </a:solidFill>
                <a:latin typeface="Times New Roman"/>
                <a:cs typeface="Times New Roman"/>
              </a:rPr>
              <a:t>Мальцев Прокопий Александрович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Заголовок 1"/>
          <p:cNvSpPr txBox="1"/>
          <p:nvPr/>
        </p:nvSpPr>
        <p:spPr bwMode="auto">
          <a:xfrm>
            <a:off x="2559472" y="436323"/>
            <a:ext cx="7073053" cy="10857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>
              <a:lnSpc>
                <a:spcPct val="85000"/>
              </a:lnSpc>
              <a:spcBef>
                <a:spcPts val="0"/>
              </a:spcBef>
              <a:buNone/>
              <a:defRPr sz="8000" spc="-5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1000"/>
              </a:spcAft>
              <a:defRPr/>
            </a:pPr>
            <a:r>
              <a:rPr lang="ru-RU" sz="2400">
                <a:solidFill>
                  <a:schemeClr val="tx1"/>
                </a:solidFill>
                <a:latin typeface="Times New Roman"/>
                <a:ea typeface="Times New Roman"/>
              </a:rPr>
              <a:t>Санкт-Петербургское государственное бюджетное профессиональное образовательное учреждение «Колледж судостроения, информационных и прикладных технологий»</a:t>
            </a:r>
            <a:endParaRPr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 algn="ctr">
              <a:defRPr/>
            </a:pPr>
            <a:r>
              <a:rPr lang="ru-RU">
                <a:solidFill>
                  <a:schemeClr val="tx1"/>
                </a:solidFill>
                <a:latin typeface="Times New Roman"/>
                <a:cs typeface="Times New Roman"/>
              </a:rPr>
              <a:t>Цель и задачи проекта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36000" tIns="45720" rIns="3600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Цель -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разработка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н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а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с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т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о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л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ь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н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о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г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о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п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р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и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л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о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ж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е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н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и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я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д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л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я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м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а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г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а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з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и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н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а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ц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в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е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т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о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в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. </a:t>
            </a:r>
            <a:endParaRPr/>
          </a:p>
          <a:p>
            <a:pPr>
              <a:defRPr/>
            </a:pPr>
            <a:endParaRPr sz="2800">
              <a:solidFill>
                <a:schemeClr val="tx1"/>
              </a:solidFill>
              <a:highlight>
                <a:srgbClr val="0000FF"/>
              </a:highlight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З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адачи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дипломного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проекта</a:t>
            </a:r>
            <a:r>
              <a:rPr sz="280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endParaRPr>
              <a:solidFill>
                <a:schemeClr val="tx1"/>
              </a:solidFill>
            </a:endParaRPr>
          </a:p>
          <a:p>
            <a:pPr>
              <a:buFont typeface="Arial"/>
              <a:buChar char="•"/>
              <a:defRPr/>
            </a:pP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Анализ предметной области и формирование функциональных требований к системе автоматизации цветочного магазина</a:t>
            </a: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  <a:endParaRPr>
              <a:solidFill>
                <a:schemeClr val="tx1"/>
              </a:solidFill>
            </a:endParaRPr>
          </a:p>
          <a:p>
            <a:pPr>
              <a:buFont typeface="Arial"/>
              <a:buChar char="•"/>
              <a:defRPr/>
            </a:pP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Проектирование архитектуры и структуры базы данных десктопного приложения</a:t>
            </a: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  <a:endParaRPr lang="ru-RU" sz="2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  <a:defRPr/>
            </a:pP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5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Программная реализация модулей учёта товаров, продаж и визуализации аналитики</a:t>
            </a: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  <a:endParaRPr lang="en-US" sz="2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  <a:defRPr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Тестирование, отладка и оценка эффективности разработанного приложения</a:t>
            </a: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 algn="ctr">
              <a:defRPr/>
            </a:pPr>
            <a:r>
              <a:rPr lang="ru-RU">
                <a:solidFill>
                  <a:schemeClr val="tx1"/>
                </a:solidFill>
                <a:latin typeface="Times New Roman"/>
                <a:cs typeface="Times New Roman"/>
              </a:rPr>
              <a:t>Стек технологий</a:t>
            </a:r>
            <a:endParaRPr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39911923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063551" y="2549404"/>
            <a:ext cx="9360703" cy="2176104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SzPct val="100000"/>
              <a:buFont typeface="Arial"/>
              <a:buChar char="•"/>
              <a:defRPr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 C# (AvaloniaUI</a:t>
            </a: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  <a:endParaRPr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SzPct val="100000"/>
              <a:buFont typeface="Arial"/>
              <a:buChar char="•"/>
              <a:defRPr/>
            </a:pP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DBeaver</a:t>
            </a: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endParaRPr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SzPct val="100000"/>
              <a:buFont typeface="Arial"/>
              <a:buChar char="•"/>
              <a:defRPr/>
            </a:pP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Docker</a:t>
            </a: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  <a:endParaRPr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SzPct val="100000"/>
              <a:buFont typeface="Arial"/>
              <a:buChar char="•"/>
              <a:defRPr/>
            </a:pP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PostgreSQL</a:t>
            </a:r>
            <a:r>
              <a:rPr lang="ru-RU" sz="280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68923725" name="Рисунок 86892372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307137" y="2187833"/>
            <a:ext cx="1269999" cy="1269999"/>
          </a:xfrm>
          <a:prstGeom prst="rect">
            <a:avLst/>
          </a:prstGeom>
        </p:spPr>
      </p:pic>
      <p:pic>
        <p:nvPicPr>
          <p:cNvPr id="1463257961" name="Рисунок 146325796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613399" y="4213224"/>
            <a:ext cx="2657474" cy="1247774"/>
          </a:xfrm>
          <a:prstGeom prst="rect">
            <a:avLst/>
          </a:prstGeom>
        </p:spPr>
      </p:pic>
      <p:pic>
        <p:nvPicPr>
          <p:cNvPr id="1493210239" name="Рисунок 149321023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077199" y="4037012"/>
            <a:ext cx="2857500" cy="16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 algn="ctr"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Анализ конкурентов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266572654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>
          <a:off x="1097280" y="1845733"/>
          <a:ext cx="10058399" cy="161530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{C2458508-05A1-21E7-7CDB-93ACF1F5D20C}</a:tableStyleId>
              </a:tblPr>
              <a:tblGrid>
                <a:gridCol w="1436914"/>
                <a:gridCol w="1436914"/>
                <a:gridCol w="1436914"/>
                <a:gridCol w="1436914"/>
                <a:gridCol w="1436914"/>
                <a:gridCol w="1436914"/>
                <a:gridCol w="1436914"/>
              </a:tblGrid>
              <a:tr h="64688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Критерии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1С:Розница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МойСклад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iiko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Цветочный офис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Флора-Софт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Наш продукт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69030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Учёт цветочной номенклатуры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2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64688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Учёт сезонности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64688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Формирование букетов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64688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Локальная установка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64688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Стоимость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Высокая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Высокая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Высокая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Средняя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Средняя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Низкая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 algn="ctr">
              <a:defRPr/>
            </a:pPr>
            <a:r>
              <a:rPr lang="ru-RU" sz="4800">
                <a:solidFill>
                  <a:schemeClr val="tx1"/>
                </a:solidFill>
                <a:latin typeface="Times New Roman"/>
                <a:ea typeface="Times New Roman"/>
              </a:rPr>
              <a:t>Схема </a:t>
            </a:r>
            <a:r>
              <a:rPr lang="ru-RU" sz="4800">
                <a:solidFill>
                  <a:schemeClr val="tx1"/>
                </a:solidFill>
                <a:latin typeface="Times New Roman"/>
                <a:ea typeface="Times New Roman"/>
              </a:rPr>
              <a:t>потоков данных</a:t>
            </a:r>
            <a:endParaRPr sz="4800">
              <a:solidFill>
                <a:schemeClr val="tx1"/>
              </a:solidFill>
            </a:endParaRPr>
          </a:p>
        </p:txBody>
      </p:sp>
      <p:sp>
        <p:nvSpPr>
          <p:cNvPr id="112366025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01967972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rot="0" flipH="0" flipV="0">
            <a:off x="2351306" y="1737359"/>
            <a:ext cx="7774589" cy="43660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948858" name="Title 1"/>
          <p:cNvSpPr>
            <a:spLocks noGrp="1"/>
          </p:cNvSpPr>
          <p:nvPr>
            <p:ph type="title"/>
          </p:nvPr>
        </p:nvSpPr>
        <p:spPr bwMode="auto">
          <a:xfrm>
            <a:off x="1097280" y="166384"/>
            <a:ext cx="10058399" cy="145075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 algn="ctr">
              <a:defRPr/>
            </a:pPr>
            <a:r>
              <a:rPr lang="ru-RU">
                <a:solidFill>
                  <a:schemeClr val="tx1"/>
                </a:solidFill>
                <a:latin typeface="Times New Roman"/>
                <a:cs typeface="Times New Roman"/>
              </a:rPr>
              <a:t>Схема базы данных</a:t>
            </a:r>
            <a:endParaRPr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8248997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114940" y="1670481"/>
            <a:ext cx="5786714" cy="4475824"/>
          </a:xfrm>
          <a:prstGeom prst="rect">
            <a:avLst/>
          </a:prstGeom>
          <a:effectLst>
            <a:outerShdw blurRad="50800" dist="38100" dir="5400000" sx="100000" sy="100000" algn="t" rotWithShape="0">
              <a:schemeClr val="bg1">
                <a:alpha val="0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anchor="ctr">
            <a:normAutofit/>
          </a:bodyPr>
          <a:lstStyle/>
          <a:p>
            <a:pPr algn="ctr">
              <a:defRPr/>
            </a:pPr>
            <a:r>
              <a:rPr lang="ru-RU">
                <a:solidFill>
                  <a:schemeClr val="tx1"/>
                </a:solidFill>
                <a:latin typeface="Times New Roman"/>
                <a:ea typeface="Arial"/>
              </a:rPr>
              <a:t>Трудоёмкость работ </a:t>
            </a:r>
            <a:endParaRPr lang="ru-RU" sz="11500">
              <a:solidFill>
                <a:schemeClr val="tx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xmlns:a="http://schemas.openxmlformats.org/drawingml/2006/main" noGrp="1"/>
          </p:cNvGraphicFramePr>
          <p:nvPr/>
        </p:nvGraphicFramePr>
        <p:xfrm>
          <a:off x="2895412" y="2060848"/>
          <a:ext cx="6800987" cy="3455375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{C2458508-05A1-21E7-7CDB-93ACF1F5D20C}</a:tableStyleId>
              </a:tblPr>
              <a:tblGrid>
                <a:gridCol w="492595"/>
                <a:gridCol w="4724217"/>
                <a:gridCol w="1584175"/>
              </a:tblGrid>
              <a:tr h="3600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№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450215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Виды работ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 b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Трудоемкость</a:t>
                      </a:r>
                      <a:endParaRPr sz="14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 b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(в человеко-часах)</a:t>
                      </a:r>
                      <a:endParaRPr sz="11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398029"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Постановка задач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80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398029"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Сбор информации и ознакомление с предметной областью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80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398029"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Подборка аппаратного обеспечения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80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398029"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азработка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б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а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з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ы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а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ы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х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80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48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398029"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азработка 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а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т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о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л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ь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о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г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о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приложения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80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114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398029"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Тестирование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800"/>
                        </a:spcBef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  <a:tr h="427122">
                <a:tc gridSpan="2">
                  <a:txBody>
                    <a:bodyPr/>
                    <a:p>
                      <a:pPr algn="l">
                        <a:lnSpc>
                          <a:spcPct val="150000"/>
                        </a:lnSpc>
                        <a:defRPr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Итого:</a:t>
                      </a:r>
                      <a:endParaRPr sz="1600">
                        <a:solidFill>
                          <a:schemeClr val="tx1"/>
                        </a:solidFill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spcBef>
                          <a:spcPts val="800"/>
                        </a:spcBef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190</a:t>
                      </a:r>
                      <a:endParaRPr sz="1400">
                        <a:solidFill>
                          <a:schemeClr val="tx1"/>
                        </a:solidFill>
                        <a:latin typeface="Times New Roman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699" algn="ctr">
                      <a:solidFill>
                        <a:srgbClr val="000000"/>
                      </a:solidFill>
                      <a:prstDash val="dashDot"/>
                    </a:lnL>
                    <a:lnR w="12699" algn="ctr">
                      <a:solidFill>
                        <a:srgbClr val="000000"/>
                      </a:solidFill>
                      <a:prstDash val="dashDot"/>
                    </a:lnR>
                    <a:lnT w="12699" algn="ctr">
                      <a:solidFill>
                        <a:srgbClr val="000000"/>
                      </a:solidFill>
                      <a:prstDash val="dashDot"/>
                    </a:lnT>
                    <a:lnB w="12699" algn="ctr">
                      <a:solidFill>
                        <a:srgbClr val="000000"/>
                      </a:solidFill>
                      <a:prstDash val="dashDot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 algn="ctr">
              <a:defRPr/>
            </a:pPr>
            <a:r>
              <a:rPr lang="ru-RU">
                <a:solidFill>
                  <a:schemeClr val="tx1"/>
                </a:solidFill>
                <a:latin typeface="Times New Roman"/>
                <a:cs typeface="Times New Roman"/>
              </a:rPr>
              <a:t>Выводы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36000" tIns="45720" rIns="36000" bIns="45720" numCol="1" spcCol="0" rtlCol="0" fromWordArt="0" anchor="t" anchorCtr="0" forceAA="0" upright="0" compatLnSpc="0">
            <a:normAutofit/>
          </a:bodyPr>
          <a:lstStyle/>
          <a:p>
            <a:pPr marL="201167" lvl="1" indent="0" algn="just">
              <a:buClr>
                <a:schemeClr val="accent1"/>
              </a:buClr>
              <a:buFont typeface="Calibri"/>
              <a:buNone/>
              <a:defRPr/>
            </a:pPr>
            <a:r>
              <a:rPr lang="ru-RU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	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В ходе проделанной работы было разработано десктопное приложение для автоматизации учёта товаров и продаж в цветочном магазине, которое позволяет повысить эффективность работы персонала и качество обслуживания клиентов. В приложении реализованы современные архитектурные решения на базе технологий C#, Avalonia UI и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обеспечивающие надёжность, безопасность данных и возможность последующего расширения функциональности системы.</a:t>
            </a:r>
            <a:endParaRPr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0</Words>
  <Application>Р7-Офис/2025.4.1.1604</Application>
  <DocSecurity>0</DocSecurity>
  <PresentationFormat>Широкоэкранный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на тему: «Разработка информационной системы для управления задачами»</dc:title>
  <dc:subject/>
  <dc:creator>Mihail alkaev</dc:creator>
  <cp:keywords/>
  <dc:description/>
  <dc:identifier/>
  <dc:language/>
  <cp:lastModifiedBy>lexus</cp:lastModifiedBy>
  <cp:revision>69</cp:revision>
  <dcterms:created xsi:type="dcterms:W3CDTF">2022-06-28T17:46:59Z</dcterms:created>
  <dcterms:modified xsi:type="dcterms:W3CDTF">2026-04-20T23:30:41Z</dcterms:modified>
  <cp:category/>
  <cp:contentStatus/>
  <cp:version/>
</cp:coreProperties>
</file>